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3685601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Calibri"/>
              </a:defRPr>
            </a:pPr>
            <a:r>
              <a:t>The AI memory layer between LMS platforms and classrooms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5524"/>
                </a:solidFill>
                <a:latin typeface="Calibri"/>
              </a:defRPr>
            </a:pPr>
            <a:r>
              <a:t>Students get personalized learning. Teachers get full visibility.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846320"/>
            <a:ext cx="2103120" cy="1905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Youdahe Asfaw  &amp;  Kofi Osei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1,000+ students  ·  2 schools deployed  ·  $10K in pitch competition prizes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15524"/>
                </a:solidFill>
                <a:latin typeface="Calibri"/>
              </a:defRPr>
            </a:pPr>
            <a:r>
              <a:t>Students use AI to cheat. Teachers are blind 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515600" cy="105156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880360"/>
            <a:ext cx="137160" cy="13716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Students paste homework into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They get the answer, learn nothing, and submit it as their own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05156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4160520"/>
            <a:ext cx="137160" cy="13716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Teachers have zero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AI usage is a total black box — they can’t see what students are doing or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79"/>
            <a:ext cx="10515600" cy="105156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5440679"/>
            <a:ext cx="137160" cy="13716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1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Current AI tutors never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1499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Khanmigo is the same tutor forever. No one measures if tutoring actually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15524"/>
                </a:solidFill>
                <a:latin typeface="Calibri"/>
              </a:defRPr>
            </a:pPr>
            <a:r>
              <a:t>Docere plugs into any LMS in one click. Zero teacher setup.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383280" cy="36576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383280" cy="54864"/>
          </a:xfrm>
          <a:prstGeom prst="rect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5524"/>
                </a:solidFill>
                <a:latin typeface="Calibri"/>
              </a:defRPr>
            </a:pPr>
            <a: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AI tutor grounded in actual course content. Teaches via Socratic questioning — never gives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36576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5603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For 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Full dashboard of every AI-student interaction. See what students struggle with, who’s at risk, and how the class is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383280" cy="36576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560320"/>
            <a:ext cx="3383280" cy="54864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94A1C"/>
                </a:solidFill>
                <a:latin typeface="Calibri"/>
              </a:defRPr>
            </a:pPr>
            <a:r>
              <a:t>The Differentiator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Every interaction is scored. Scores link to real grades. The system evolves its teaching strategies weekly — it gets measurably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41148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2286000"/>
            <a:ext cx="640080" cy="64008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LTI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Teacher clicks ‘Docere’ inside</a:t>
            </a:r>
            <a:br/>
            <a:r>
              <a:t>Moodle or Canvas. One click.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3840480"/>
            <a:ext cx="228600" cy="228600"/>
          </a:xfrm>
          <a:prstGeom prst="rightArrow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51760" cy="41148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286000"/>
            <a:ext cx="640080" cy="64008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Auto-Sync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Course materials, assignments,</a:t>
            </a:r>
            <a:br/>
            <a:r>
              <a:t>grades, and rosters are pulled</a:t>
            </a:r>
            <a:br/>
            <a:r>
              <a:t>automatically. Zero setup.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80760" y="3840480"/>
            <a:ext cx="228600" cy="228600"/>
          </a:xfrm>
          <a:prstGeom prst="rightArrow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2651760" cy="41148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2286000"/>
            <a:ext cx="640080" cy="64008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Smart Tutoring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Students get help grounded in</a:t>
            </a:r>
            <a:br/>
            <a:r>
              <a:t>actual course content. Socratic</a:t>
            </a:r>
            <a:br/>
            <a:r>
              <a:t>questioning, not answers.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61120" y="3840480"/>
            <a:ext cx="228600" cy="228600"/>
          </a:xfrm>
          <a:prstGeom prst="rightArrow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2011680"/>
            <a:ext cx="2651760" cy="41148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2286000"/>
            <a:ext cx="640080" cy="640080"/>
          </a:xfrm>
          <a:prstGeom prst="ellipse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Score &amp; Evolve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6576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Every interaction scored.</a:t>
            </a:r>
            <a:br/>
            <a:r>
              <a:t>Linked to real grades.</a:t>
            </a:r>
            <a:br/>
            <a:r>
              <a:t>Strategies evolve weekly.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The Self-Improvement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15524"/>
                </a:solidFill>
                <a:latin typeface="Calibri"/>
              </a:defRPr>
            </a:pPr>
            <a:r>
              <a:t>No competitor does this. The system gets measurably better every week.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2651760" cy="32004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5524"/>
                </a:solidFill>
                <a:latin typeface="Calibri"/>
              </a:defRPr>
            </a:pPr>
            <a:r>
              <a:t>Tutor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5 seed strategies</a:t>
            </a:r>
            <a:br/>
            <a:r>
              <a:t>(Socratic, Analogy,</a:t>
            </a:r>
            <a:br/>
            <a:r>
              <a:t>Scaffolded, Error-</a:t>
            </a:r>
            <a:br/>
            <a:r>
              <a:t>Focused, Minimal)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3931920"/>
            <a:ext cx="228600" cy="228600"/>
          </a:xfrm>
          <a:prstGeom prst="rightArrow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2560320"/>
            <a:ext cx="2651760" cy="32004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5524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LLM-as-judge +</a:t>
            </a:r>
            <a:br/>
            <a:r>
              <a:t>heuristics score</a:t>
            </a:r>
            <a:br/>
            <a:r>
              <a:t>every interaction</a:t>
            </a:r>
            <a:br/>
            <a:r>
              <a:t>on 4 dimensions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80760" y="3931920"/>
            <a:ext cx="228600" cy="228600"/>
          </a:xfrm>
          <a:prstGeom prst="rightArrow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2651760" cy="32004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5524"/>
                </a:solidFill>
                <a:latin typeface="Calibri"/>
              </a:defRPr>
            </a:pPr>
            <a:r>
              <a:t>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Scores linked to</a:t>
            </a:r>
            <a:br/>
            <a:r>
              <a:t>real LMS grades</a:t>
            </a:r>
            <a:br/>
            <a:r>
              <a:t>(14-day attribution</a:t>
            </a:r>
            <a:br/>
            <a:r>
              <a:t>window)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61120" y="3931920"/>
            <a:ext cx="228600" cy="228600"/>
          </a:xfrm>
          <a:prstGeom prst="rightArrow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2560320"/>
            <a:ext cx="2651760" cy="320040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5524"/>
                </a:solidFill>
                <a:latin typeface="Calibri"/>
              </a:defRPr>
            </a:pPr>
            <a:r>
              <a:t>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2918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Weekly: mutate top</a:t>
            </a:r>
            <a:br/>
            <a:r>
              <a:t>strategies, prune</a:t>
            </a:r>
            <a:br/>
            <a:r>
              <a:t>worst performers.</a:t>
            </a:r>
            <a:br/>
            <a:r>
              <a:t>UCB1 bandit selects.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Repeat weekly  →  system improves automatically  →  better student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92608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5524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Across 2 middle schools</a:t>
            </a:r>
            <a:br/>
            <a:r>
              <a:t>and hundreds of educators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651760" cy="292608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55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Schools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Deployed and in active</a:t>
            </a:r>
            <a:br/>
            <a:r>
              <a:t>use since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651760" cy="292608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5524"/>
                </a:solidFill>
                <a:latin typeface="Calibri"/>
              </a:defRPr>
            </a:pPr>
            <a:r>
              <a:t>$10K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Prize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Won in pitch competitions</a:t>
            </a:r>
            <a:br/>
            <a:r>
              <a:t>validating the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651760" cy="292608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5524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Teacher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747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LTI integration = one click.</a:t>
            </a:r>
            <a:br/>
            <a:r>
              <a:t>Content auto-syncs.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Research paper "Learning Agents That Learn" targeting AIED 2026 in Seoul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Professor volunteered to help with IRB for formal classroom studies — he came to 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2194560"/>
            <a:ext cx="3291840" cy="3291840"/>
          </a:xfrm>
          <a:prstGeom prst="ellipse">
            <a:avLst/>
          </a:prstGeom>
          <a:solidFill>
            <a:srgbClr val="FDE8E0"/>
          </a:solidFill>
          <a:ln w="25400">
            <a:solidFill>
              <a:srgbClr val="F15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2651760"/>
            <a:ext cx="2377440" cy="2377440"/>
          </a:xfrm>
          <a:prstGeom prst="ellipse">
            <a:avLst/>
          </a:prstGeom>
          <a:solidFill>
            <a:srgbClr val="FDE8E0"/>
          </a:solidFill>
          <a:ln w="25400">
            <a:solidFill>
              <a:srgbClr val="F15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06240" y="3108960"/>
            <a:ext cx="1463040" cy="1463040"/>
          </a:xfrm>
          <a:prstGeom prst="ellipse">
            <a:avLst/>
          </a:prstGeom>
          <a:solidFill>
            <a:srgbClr val="FDE8E0"/>
          </a:solidFill>
          <a:ln w="25400">
            <a:solidFill>
              <a:srgbClr val="F15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5524"/>
                </a:solidFill>
                <a:latin typeface="Calibri"/>
              </a:defRPr>
            </a:pPr>
            <a:r>
              <a:t>$500M 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50M US K-12 students @ $10/student/year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4846320" cy="475488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15524"/>
                </a:solidFill>
                <a:latin typeface="Calibri"/>
              </a:defRPr>
            </a:pPr>
            <a:r>
              <a:t>Pricing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K-12:  $5–15 / student / year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A mid-size district (10K students) = $50K–150K/year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Higher Ed:  $500–2,000 / course / semester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1">
                <a:solidFill>
                  <a:srgbClr val="F15524"/>
                </a:solidFill>
                <a:latin typeface="Calibri"/>
              </a:defRPr>
            </a:pPr>
            <a:r>
              <a:t>Why now?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Districts already spend $5–20/student on IXL, DreamBox.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We’re a direct replacement that actually improves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Why Not the Others?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438912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Khanmigo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Good tutor, same tutor forever.</a:t>
            </a:r>
            <a:br/>
            <a:r>
              <a:t>No outcome tracking.</a:t>
            </a:r>
            <a:br/>
            <a:r>
              <a:t>No self-improvement.</a:t>
            </a:r>
            <a:br/>
            <a:r>
              <a:t>Requires switching to Khan.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651760" cy="438912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2011680"/>
            <a:ext cx="2651760" cy="5486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ChatGPT /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Memory ≠ learning.</a:t>
            </a:r>
            <a:br/>
            <a:r>
              <a:t>Remembering facts is not</a:t>
            </a:r>
            <a:br/>
            <a:r>
              <a:t>measuring if teaching worked.</a:t>
            </a:r>
            <a:br/>
            <a:r>
              <a:t>Zero teacher visibility.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651760" cy="438912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Cognii / Carnegie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Enterprise, slow, expensive.</a:t>
            </a:r>
            <a:br/>
            <a:r>
              <a:t>Not LLM-native.</a:t>
            </a:r>
            <a:br/>
            <a:r>
              <a:t>No evolution loop.</a:t>
            </a:r>
            <a:br/>
            <a:r>
              <a:t>Months-long integration.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651760" cy="4389120"/>
          </a:xfrm>
          <a:prstGeom prst="roundRect">
            <a:avLst/>
          </a:prstGeom>
          <a:solidFill>
            <a:srgbClr val="FDE8E0"/>
          </a:solidFill>
          <a:ln w="12700">
            <a:solidFill>
              <a:srgbClr val="F15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011680"/>
            <a:ext cx="2651760" cy="54864"/>
          </a:xfrm>
          <a:prstGeom prst="rect">
            <a:avLst/>
          </a:prstGeom>
          <a:solidFill>
            <a:srgbClr val="F15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5524"/>
                </a:solidFill>
                <a:latin typeface="Calibri"/>
              </a:defRPr>
            </a:pPr>
            <a:r>
              <a:t>Docere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Scores every interaction.</a:t>
            </a:r>
            <a:br/>
            <a:r>
              <a:t>Links to real grades.</a:t>
            </a:r>
            <a:br/>
            <a:r>
              <a:t>Evolves weekly.</a:t>
            </a:r>
            <a:br/>
            <a:r>
              <a:t>One-click LMS integration.</a:t>
            </a:r>
            <a:br/>
            <a:r>
              <a:t>Full teacher visibility.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38210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438912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A1A1A"/>
                </a:solidFill>
                <a:latin typeface="Calibri"/>
              </a:defRPr>
            </a:pPr>
            <a:r>
              <a:t>Youdahe Asfaw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15524"/>
                </a:solidFill>
                <a:latin typeface="Calibri"/>
              </a:defRPr>
            </a:pPr>
            <a:r>
              <a:t>Co-Founder  ·  Built everything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Built Docere v1 &amp; v2 from scratch — deployed in 2 schools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ML Research at Hugging Face (open-source, transformers)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Software Engineer at Medtronic (Touch Surgery, AI team)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Software Engineer at Medica (internal workflows)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Incoming SWE Intern at Liberty Mutual (Summer 2026)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Angel investor in AI startups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Code2040 Fellow  ·  ColorStack  ·  Black Minds Tech Fellow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Gustavus Adolphus College — 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9456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1A1A1A"/>
                </a:solidFill>
                <a:latin typeface="Calibri"/>
              </a:defRPr>
            </a:pPr>
            <a:r>
              <a:t>Kofi Osei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15524"/>
                </a:solidFill>
                <a:latin typeface="Calibri"/>
              </a:defRPr>
            </a:pPr>
            <a:r>
              <a:t>Co-Founder  ·  Research &amp; ML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Published ML researcher — Adaptive Mixture of Experts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SWE at HashiCorp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SWE Intern at Goldman Sachs (Emerging Leaders)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Code2040 Fellow  ·  ColorStack Fellow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Student TA — 1.5 years teaching experience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Co-leads research &amp; experiment design for AIED 2026 paper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Gustavus Adolphus College — 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e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914400"/>
            <a:ext cx="2764201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Calibri"/>
              </a:defRPr>
            </a:pPr>
            <a:r>
              <a:t>Let’s Talk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3017520"/>
            <a:ext cx="7040880" cy="2560320"/>
          </a:xfrm>
          <a:prstGeom prst="roundRect">
            <a:avLst/>
          </a:prstGeom>
          <a:solidFill>
            <a:srgbClr val="FAFAF7"/>
          </a:solidFill>
          <a:ln w="12700">
            <a:solidFill>
              <a:srgbClr val="E5E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200400"/>
            <a:ext cx="6126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We have 1,000+ students using the product, a self-improving AI system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that no competitor has, and a research paper going to AIED 2026.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000" b="1">
                <a:solidFill>
                  <a:srgbClr val="F15524"/>
                </a:solidFill>
                <a:latin typeface="Calibri"/>
              </a:defRPr>
            </a:pPr>
            <a:r>
              <a:t>We’re ready to go full-time and scale to 200 districts.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852160"/>
            <a:ext cx="2103120" cy="1905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youdahe@docere.ai  ·  kofi@docere.ai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