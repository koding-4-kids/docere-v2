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Calibri"/>
              </a:defRPr>
            </a:pPr>
            <a:r>
              <a:t>Docere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CCCCC"/>
                </a:solidFill>
                <a:latin typeface="Calibri"/>
              </a:defRPr>
            </a:pPr>
            <a:r>
              <a:t>The AI memory layer between LMS platforms and classrooms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17AF7"/>
                </a:solidFill>
                <a:latin typeface="Calibri"/>
              </a:defRPr>
            </a:pPr>
            <a:r>
              <a:t>Students get personalized tutoring. Teachers get full visibility.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A8A8A"/>
                </a:solidFill>
                <a:latin typeface="Calibri"/>
              </a:defRPr>
            </a:pPr>
            <a:r>
              <a:t>YC S26  |  Youdahe Asfaw &amp; Kofi Osei  |  Gustavus Adolphus College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17AF7"/>
                </a:solidFill>
                <a:latin typeface="Calibri"/>
              </a:defRPr>
            </a:pPr>
            <a:r>
              <a:t>Students use AI to cheat. Teachers are blind to 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515600" cy="1188720"/>
          </a:xfrm>
          <a:prstGeom prst="roundRect">
            <a:avLst/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488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Students paste homework into ChatGPT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060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CC"/>
                </a:solidFill>
                <a:latin typeface="Calibri"/>
              </a:defRPr>
            </a:pPr>
            <a:r>
              <a:t>They get the answer, learn nothing, and submit it as their own work.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10515600" cy="1188720"/>
          </a:xfrm>
          <a:prstGeom prst="roundRect">
            <a:avLst/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6118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Teachers have zero visibility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0690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CC"/>
                </a:solidFill>
                <a:latin typeface="Calibri"/>
              </a:defRPr>
            </a:pPr>
            <a:r>
              <a:t>AI usage is a total black box — they can't see what students are doing or learning.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937760"/>
            <a:ext cx="10515600" cy="1188720"/>
          </a:xfrm>
          <a:prstGeom prst="roundRect">
            <a:avLst/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0749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Current AI tutors never improve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5321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CC"/>
                </a:solidFill>
                <a:latin typeface="Calibri"/>
              </a:defRPr>
            </a:pPr>
            <a:r>
              <a:t>Khanmigo is the same tutor forever. No one measures if tutoring actually works.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17AF7"/>
                </a:solidFill>
                <a:latin typeface="Calibri"/>
              </a:defRPr>
            </a:pPr>
            <a:r>
              <a:t>Docere plugs into any LMS in one click. Zero teacher setup.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3383280" cy="3840480"/>
          </a:xfrm>
          <a:prstGeom prst="roundRect">
            <a:avLst/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338328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F46E5"/>
                </a:solidFill>
                <a:latin typeface="Calibri"/>
              </a:defRPr>
            </a:pPr>
            <a:r>
              <a:t>For Students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1752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CC"/>
                </a:solidFill>
                <a:latin typeface="Calibri"/>
              </a:defRPr>
            </a:pPr>
            <a:r>
              <a:t>AI tutor grounded in actual course content. Teaches via Socratic questioning — never gives answers.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103120"/>
            <a:ext cx="3383280" cy="3840480"/>
          </a:xfrm>
          <a:prstGeom prst="roundRect">
            <a:avLst/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2103120"/>
            <a:ext cx="33832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3774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0B981"/>
                </a:solidFill>
                <a:latin typeface="Calibri"/>
              </a:defRPr>
            </a:pPr>
            <a:r>
              <a:t>For Teachers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01752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CC"/>
                </a:solidFill>
                <a:latin typeface="Calibri"/>
              </a:defRPr>
            </a:pPr>
            <a:r>
              <a:t>Full dashboard of every AI-student interaction. See what students struggle with, who's at risk, and how the class is learning.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103120"/>
            <a:ext cx="3383280" cy="3840480"/>
          </a:xfrm>
          <a:prstGeom prst="roundRect">
            <a:avLst/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2103120"/>
            <a:ext cx="3383280" cy="54864"/>
          </a:xfrm>
          <a:prstGeom prst="rect">
            <a:avLst/>
          </a:prstGeom>
          <a:solidFill>
            <a:srgbClr val="817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3774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17AF7"/>
                </a:solidFill>
                <a:latin typeface="Calibri"/>
              </a:defRPr>
            </a:pPr>
            <a:r>
              <a:t>The Differentiator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01752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CC"/>
                </a:solidFill>
                <a:latin typeface="Calibri"/>
              </a:defRPr>
            </a:pPr>
            <a:r>
              <a:t>Every interaction is scored. Scores link to real grades. The system evolves its teaching strategies weekly — it gets measurably better.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2651760" cy="4114800"/>
          </a:xfrm>
          <a:prstGeom prst="roundRect">
            <a:avLst/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417320" y="1920240"/>
            <a:ext cx="640080" cy="64008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LTI Launch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9184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Teacher clicks 'Docere' inside</a:t>
            </a:r>
            <a:br/>
            <a:r>
              <a:t>Moodle or Canvas. One click.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00400" y="3474720"/>
            <a:ext cx="228600" cy="228600"/>
          </a:xfrm>
          <a:prstGeom prst="rightArrow">
            <a:avLst/>
          </a:prstGeom>
          <a:solidFill>
            <a:srgbClr val="8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37560" y="1645920"/>
            <a:ext cx="2651760" cy="4114800"/>
          </a:xfrm>
          <a:prstGeom prst="roundRect">
            <a:avLst/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297680" y="1920240"/>
            <a:ext cx="640080" cy="64008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Auto-Sync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329184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Course materials, assignments,</a:t>
            </a:r>
            <a:br/>
            <a:r>
              <a:t>grades, and rosters are pulled</a:t>
            </a:r>
            <a:br/>
            <a:r>
              <a:t>automatically. Zero setup.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080760" y="3474720"/>
            <a:ext cx="228600" cy="228600"/>
          </a:xfrm>
          <a:prstGeom prst="rightArrow">
            <a:avLst/>
          </a:prstGeom>
          <a:solidFill>
            <a:srgbClr val="8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645920"/>
            <a:ext cx="2651760" cy="4114800"/>
          </a:xfrm>
          <a:prstGeom prst="roundRect">
            <a:avLst/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178040" y="1920240"/>
            <a:ext cx="640080" cy="64008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Smart Tutoring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29184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Students get help grounded in</a:t>
            </a:r>
            <a:br/>
            <a:r>
              <a:t>actual course content. Socratic</a:t>
            </a:r>
            <a:br/>
            <a:r>
              <a:t>questioning, not answers.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961120" y="3474720"/>
            <a:ext cx="228600" cy="228600"/>
          </a:xfrm>
          <a:prstGeom prst="rightArrow">
            <a:avLst/>
          </a:prstGeom>
          <a:solidFill>
            <a:srgbClr val="8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98280" y="1645920"/>
            <a:ext cx="2651760" cy="4114800"/>
          </a:xfrm>
          <a:prstGeom prst="roundRect">
            <a:avLst/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0" y="1920240"/>
            <a:ext cx="640080" cy="64008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Score &amp; Evolve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329184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Every interaction scored.</a:t>
            </a:r>
            <a:br/>
            <a:r>
              <a:t>Linked to real grades.</a:t>
            </a:r>
            <a:br/>
            <a:r>
              <a:t>Strategies evolve weekly.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The Self-Improvement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17AF7"/>
                </a:solidFill>
                <a:latin typeface="Calibri"/>
              </a:defRPr>
            </a:pPr>
            <a:r>
              <a:t>No competitor does this. The tutor gets measurably better every week.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103120"/>
            <a:ext cx="2651760" cy="3657600"/>
          </a:xfrm>
          <a:prstGeom prst="roundRect">
            <a:avLst/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817AF7"/>
                </a:solidFill>
                <a:latin typeface="Calibri"/>
              </a:defRPr>
            </a:pPr>
            <a:r>
              <a:t>Tutor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5 seed strategies</a:t>
            </a:r>
            <a:br/>
            <a:r>
              <a:t>(Socratic, Analogy,</a:t>
            </a:r>
            <a:br/>
            <a:r>
              <a:t>Scaffolded, Error-</a:t>
            </a:r>
            <a:br/>
            <a:r>
              <a:t>Focused, Minimal)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00400" y="3657600"/>
            <a:ext cx="228600" cy="228600"/>
          </a:xfrm>
          <a:prstGeom prst="rightArrow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37560" y="2103120"/>
            <a:ext cx="2651760" cy="3657600"/>
          </a:xfrm>
          <a:prstGeom prst="roundRect">
            <a:avLst/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22860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817AF7"/>
                </a:solidFill>
                <a:latin typeface="Calibri"/>
              </a:defRPr>
            </a:pPr>
            <a:r>
              <a:t>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92608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LLM-as-judge +</a:t>
            </a:r>
            <a:br/>
            <a:r>
              <a:t>heuristics score</a:t>
            </a:r>
            <a:br/>
            <a:r>
              <a:t>every interaction</a:t>
            </a:r>
            <a:br/>
            <a:r>
              <a:t>on 4 dimensions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080760" y="3657600"/>
            <a:ext cx="228600" cy="228600"/>
          </a:xfrm>
          <a:prstGeom prst="rightArrow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2103120"/>
            <a:ext cx="2651760" cy="3657600"/>
          </a:xfrm>
          <a:prstGeom prst="roundRect">
            <a:avLst/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2860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817AF7"/>
                </a:solidFill>
                <a:latin typeface="Calibri"/>
              </a:defRPr>
            </a:pPr>
            <a:r>
              <a:t>Link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92608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Scores linked to</a:t>
            </a:r>
            <a:br/>
            <a:r>
              <a:t>real LMS grades</a:t>
            </a:r>
            <a:br/>
            <a:r>
              <a:t>(14-day attribution</a:t>
            </a:r>
            <a:br/>
            <a:r>
              <a:t>window)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961120" y="3657600"/>
            <a:ext cx="228600" cy="228600"/>
          </a:xfrm>
          <a:prstGeom prst="rightArrow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098280" y="2103120"/>
            <a:ext cx="2651760" cy="3657600"/>
          </a:xfrm>
          <a:prstGeom prst="roundRect">
            <a:avLst/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72600" y="22860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817AF7"/>
                </a:solidFill>
                <a:latin typeface="Calibri"/>
              </a:defRPr>
            </a:pPr>
            <a:r>
              <a:t>Evolve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292608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Weekly: mutate top</a:t>
            </a:r>
            <a:br/>
            <a:r>
              <a:t>strategies, prune</a:t>
            </a:r>
            <a:br/>
            <a:r>
              <a:t>worst performers.</a:t>
            </a:r>
            <a:br/>
            <a:r>
              <a:t>UCB1 bandit selects.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5943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0B981"/>
                </a:solidFill>
                <a:latin typeface="Calibri"/>
              </a:defRPr>
            </a:pPr>
            <a:r>
              <a:t>Repeat weekly  →  tutor improves automatically  →  better student outcomes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Traction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2651760" cy="3200400"/>
          </a:xfrm>
          <a:prstGeom prst="roundRect">
            <a:avLst/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817AF7"/>
                </a:solidFill>
                <a:latin typeface="Calibri"/>
              </a:defRPr>
            </a:pPr>
            <a:r>
              <a:t>1,000+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517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Students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CCCCC"/>
                </a:solidFill>
                <a:latin typeface="Calibri"/>
              </a:defRPr>
            </a:pPr>
            <a:r>
              <a:t>Across 2 middle schools</a:t>
            </a:r>
            <a:br/>
            <a:r>
              <a:t>and hundreds of educators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645920"/>
            <a:ext cx="2651760" cy="3200400"/>
          </a:xfrm>
          <a:prstGeom prst="roundRect">
            <a:avLst/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37560" y="182880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817AF7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26517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Schools Live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320040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CCCCC"/>
                </a:solidFill>
                <a:latin typeface="Calibri"/>
              </a:defRPr>
            </a:pPr>
            <a:r>
              <a:t>Deployed and in active</a:t>
            </a:r>
            <a:br/>
            <a:r>
              <a:t>use since 2025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2651760" cy="3200400"/>
          </a:xfrm>
          <a:prstGeom prst="roundRect">
            <a:avLst/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82880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817AF7"/>
                </a:solidFill>
                <a:latin typeface="Calibri"/>
              </a:defRPr>
            </a:pPr>
            <a:r>
              <a:t>$10K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6517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Prize Money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20040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CCCCC"/>
                </a:solidFill>
                <a:latin typeface="Calibri"/>
              </a:defRPr>
            </a:pPr>
            <a:r>
              <a:t>Won in pitch competitions</a:t>
            </a:r>
            <a:br/>
            <a:r>
              <a:t>validating the concept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645920"/>
            <a:ext cx="2651760" cy="3200400"/>
          </a:xfrm>
          <a:prstGeom prst="roundRect">
            <a:avLst/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182880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817AF7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26517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Teacher Setup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320040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CCCCC"/>
                </a:solidFill>
                <a:latin typeface="Calibri"/>
              </a:defRPr>
            </a:pPr>
            <a:r>
              <a:t>LTI integration = one click.</a:t>
            </a:r>
            <a:br/>
            <a:r>
              <a:t>Content auto-syncs.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212080"/>
            <a:ext cx="10515600" cy="1097280"/>
          </a:xfrm>
          <a:prstGeom prst="roundRect">
            <a:avLst/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34924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700" b="0">
                <a:solidFill>
                  <a:srgbClr val="CCCCCC"/>
                </a:solidFill>
                <a:latin typeface="Calibri"/>
              </a:defRPr>
            </a:pPr>
            <a:r>
              <a:t>Research paper "Learning Agents That Learn" targeting AIED 2026 (Seoul)</a:t>
            </a:r>
          </a:p>
          <a:p>
            <a:pPr algn="l">
              <a:spcAft>
                <a:spcPts val="600"/>
              </a:spcAft>
              <a:defRPr sz="1700" b="0">
                <a:solidFill>
                  <a:srgbClr val="CCCCCC"/>
                </a:solidFill>
                <a:latin typeface="Calibri"/>
              </a:defRPr>
            </a:pPr>
            <a:r>
              <a:t>Professor volunteered to help with IRB for formal classroom studies — we didn't pitch him, he came to 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Market</a:t>
            </a:r>
          </a:p>
        </p:txBody>
      </p:sp>
      <p:sp>
        <p:nvSpPr>
          <p:cNvPr id="3" name="Oval 2"/>
          <p:cNvSpPr/>
          <p:nvPr/>
        </p:nvSpPr>
        <p:spPr>
          <a:xfrm>
            <a:off x="1371600" y="1920240"/>
            <a:ext cx="3474720" cy="3474720"/>
          </a:xfrm>
          <a:prstGeom prst="ellipse">
            <a:avLst/>
          </a:prstGeom>
          <a:solidFill>
            <a:srgbClr val="4F46E5">
              <a:lumMod val="30000"/>
              <a:lumOff val="70000"/>
            </a:srgbClr>
          </a:solidFill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286000" y="2377440"/>
            <a:ext cx="2560320" cy="2560320"/>
          </a:xfrm>
          <a:prstGeom prst="ellipse">
            <a:avLst/>
          </a:prstGeom>
          <a:solidFill>
            <a:srgbClr val="817AF7">
              <a:lumMod val="30000"/>
              <a:lumOff val="70000"/>
            </a:srgbClr>
          </a:solidFill>
          <a:ln w="25400">
            <a:solidFill>
              <a:srgbClr val="817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200400" y="2834640"/>
            <a:ext cx="1645920" cy="1645920"/>
          </a:xfrm>
          <a:prstGeom prst="ellipse">
            <a:avLst/>
          </a:prstGeom>
          <a:solidFill>
            <a:srgbClr val="10B981">
              <a:lumMod val="30000"/>
              <a:lumOff val="70000"/>
            </a:srgbClr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2860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$500M TAM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8346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50M US K-12 students @ $10/student/year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45920"/>
            <a:ext cx="5029200" cy="4389120"/>
          </a:xfrm>
          <a:prstGeom prst="roundRect">
            <a:avLst/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828800"/>
            <a:ext cx="4297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817AF7"/>
                </a:solidFill>
                <a:latin typeface="Calibri"/>
              </a:defRPr>
            </a:pPr>
            <a:r>
              <a:t>Pricing</a:t>
            </a:r>
          </a:p>
          <a:p>
            <a:pPr algn="l">
              <a:spcAft>
                <a:spcPts val="6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K-12:  $5-15 / student / year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CCCCC"/>
                </a:solidFill>
                <a:latin typeface="Calibri"/>
              </a:defRPr>
            </a:pPr>
            <a:r>
              <a:t>A mid-size district (10K students) = $50K-150K/year</a:t>
            </a:r>
          </a:p>
          <a:p>
            <a:pPr algn="l">
              <a:spcAft>
                <a:spcPts val="6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Higher Ed:  $500-2,000 / course / semester</a:t>
            </a:r>
          </a:p>
          <a:p>
            <a:pPr algn="l">
              <a:spcAft>
                <a:spcPts val="6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2600" b="1">
                <a:solidFill>
                  <a:srgbClr val="817AF7"/>
                </a:solidFill>
                <a:latin typeface="Calibri"/>
              </a:defRPr>
            </a:pPr>
            <a:r>
              <a:t>Why now?</a:t>
            </a:r>
          </a:p>
          <a:p>
            <a:pPr algn="l">
              <a:spcAft>
                <a:spcPts val="6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600" b="0">
                <a:solidFill>
                  <a:srgbClr val="CCCCCC"/>
                </a:solidFill>
                <a:latin typeface="Calibri"/>
              </a:defRPr>
            </a:pPr>
            <a:r>
              <a:t>Districts already spend $5-20/student on IXL, DreamBox.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CCCCC"/>
                </a:solidFill>
                <a:latin typeface="Calibri"/>
              </a:defRPr>
            </a:pPr>
            <a:r>
              <a:t>We're a direct replacement that actually improves over 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Why Not the Others?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2651760" cy="4114800"/>
          </a:xfrm>
          <a:prstGeom prst="roundRect">
            <a:avLst/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265176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F4444"/>
                </a:solidFill>
                <a:latin typeface="Calibri"/>
              </a:defRPr>
            </a:pPr>
            <a:r>
              <a:t>Khanmigo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Good tutor, same tutor forever.</a:t>
            </a:r>
            <a:br/>
            <a:r>
              <a:t>No outcome tracking. No self-improvement.</a:t>
            </a:r>
            <a:br/>
            <a:r>
              <a:t>Requires switching to Khan Academy.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645920"/>
            <a:ext cx="2651760" cy="4114800"/>
          </a:xfrm>
          <a:prstGeom prst="roundRect">
            <a:avLst/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37560" y="1645920"/>
            <a:ext cx="265176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9202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F4444"/>
                </a:solidFill>
                <a:latin typeface="Calibri"/>
              </a:defRPr>
            </a:pPr>
            <a:r>
              <a:t>ChatGPT / Claude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56032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Memory ≠ learning. Remembering facts</a:t>
            </a:r>
            <a:br/>
            <a:r>
              <a:t>is not measuring if teaching worked.</a:t>
            </a:r>
            <a:br/>
            <a:r>
              <a:t>Zero teacher visibility.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2651760" cy="4114800"/>
          </a:xfrm>
          <a:prstGeom prst="roundRect">
            <a:avLst/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645920"/>
            <a:ext cx="265176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9202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F4444"/>
                </a:solidFill>
                <a:latin typeface="Calibri"/>
              </a:defRPr>
            </a:pPr>
            <a:r>
              <a:t>Cognii / Carnegie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56032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Enterprise, slow, expensive.</a:t>
            </a:r>
            <a:br/>
            <a:r>
              <a:t>Not LLM-native. No evolution loop.</a:t>
            </a:r>
            <a:br/>
            <a:r>
              <a:t>Months-long integration.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645920"/>
            <a:ext cx="2651760" cy="4114800"/>
          </a:xfrm>
          <a:prstGeom prst="roundRect">
            <a:avLst/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98280" y="1645920"/>
            <a:ext cx="26517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72600" y="19202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0B981"/>
                </a:solidFill>
                <a:latin typeface="Calibri"/>
              </a:defRPr>
            </a:pPr>
            <a:r>
              <a:t>Docere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256032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Scores every interaction.</a:t>
            </a:r>
            <a:br/>
            <a:r>
              <a:t>Links to real grades. Evolves weekly.</a:t>
            </a:r>
            <a:br/>
            <a:r>
              <a:t>One-click LMS integration.</a:t>
            </a:r>
            <a:br/>
            <a:r>
              <a:t>Full teacher visibility.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029200" cy="4572000"/>
          </a:xfrm>
          <a:prstGeom prst="roundRect">
            <a:avLst/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4297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Youdahe Asfaw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817AF7"/>
                </a:solidFill>
                <a:latin typeface="Calibri"/>
              </a:defRPr>
            </a:pPr>
            <a:r>
              <a:t>Co-Founder  ·  Built everything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500" b="0">
                <a:solidFill>
                  <a:srgbClr val="CCCCCC"/>
                </a:solidFill>
                <a:latin typeface="Calibri"/>
              </a:defRPr>
            </a:pPr>
            <a:r>
              <a:t>Built Docere v1 &amp; v2 from scratch — deployed in 2 schools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CCCCCC"/>
                </a:solidFill>
                <a:latin typeface="Calibri"/>
              </a:defRPr>
            </a:pPr>
            <a:r>
              <a:t>ML Research at Hugging Face (open-source, transformers)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CCCCCC"/>
                </a:solidFill>
                <a:latin typeface="Calibri"/>
              </a:defRPr>
            </a:pPr>
            <a:r>
              <a:t>Software Engineer at Medtronic (Touch Surgery, AI team)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CCCCCC"/>
                </a:solidFill>
                <a:latin typeface="Calibri"/>
              </a:defRPr>
            </a:pPr>
            <a:r>
              <a:t>Software Engineer at Medica (internal workflows)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CCCCCC"/>
                </a:solidFill>
                <a:latin typeface="Calibri"/>
              </a:defRPr>
            </a:pPr>
            <a:r>
              <a:t>Incoming SWE Intern at Liberty Mutual (Summer 2026)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CCCCCC"/>
                </a:solidFill>
                <a:latin typeface="Calibri"/>
              </a:defRPr>
            </a:pPr>
            <a:r>
              <a:t>Angel investor in AI startups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CCCCCC"/>
                </a:solidFill>
                <a:latin typeface="Calibri"/>
              </a:defRPr>
            </a:pPr>
            <a:r>
              <a:t>Code2040 Fellow  ·  ColorStack  ·  Black Minds Tech Fellow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8A8A8A"/>
                </a:solidFill>
                <a:latin typeface="Calibri"/>
              </a:defRPr>
            </a:pPr>
            <a:r>
              <a:t>Gustavus Adolphus College — 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645920"/>
            <a:ext cx="5029200" cy="4572000"/>
          </a:xfrm>
          <a:prstGeom prst="roundRect">
            <a:avLst/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0" y="1828800"/>
            <a:ext cx="4297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Kofi Osei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817AF7"/>
                </a:solidFill>
                <a:latin typeface="Calibri"/>
              </a:defRPr>
            </a:pPr>
            <a:r>
              <a:t>Co-Founder  ·  Research &amp; ML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500" b="0">
                <a:solidFill>
                  <a:srgbClr val="CCCCCC"/>
                </a:solidFill>
                <a:latin typeface="Calibri"/>
              </a:defRPr>
            </a:pPr>
            <a:r>
              <a:t>Published ML researcher — Adaptive Mixture of Experts (IEEE)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CCCCCC"/>
                </a:solidFill>
                <a:latin typeface="Calibri"/>
              </a:defRPr>
            </a:pPr>
            <a:r>
              <a:t>SWE at HashiCorp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CCCCCC"/>
                </a:solidFill>
                <a:latin typeface="Calibri"/>
              </a:defRPr>
            </a:pPr>
            <a:r>
              <a:t>SWE Intern at Goldman Sachs (Emerging Leaders)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CCCCCC"/>
                </a:solidFill>
                <a:latin typeface="Calibri"/>
              </a:defRPr>
            </a:pPr>
            <a:r>
              <a:t>Code2040 Fellow  ·  ColorStack Fellow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CCCCCC"/>
                </a:solidFill>
                <a:latin typeface="Calibri"/>
              </a:defRPr>
            </a:pPr>
            <a:r>
              <a:t>Student TA — 1.5 years teaching experience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CCCCCC"/>
                </a:solidFill>
                <a:latin typeface="Calibri"/>
              </a:defRPr>
            </a:pPr>
            <a:r>
              <a:t>Co-leads research &amp; experiment design for AIED 2026 paper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8A8A8A"/>
                </a:solidFill>
                <a:latin typeface="Calibri"/>
              </a:defRPr>
            </a:pPr>
            <a:r>
              <a:t>Gustavus Adolphus College — 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The Ask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0" y="2743200"/>
            <a:ext cx="7589520" cy="2743200"/>
          </a:xfrm>
          <a:prstGeom prst="roundRect">
            <a:avLst/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0" y="2926080"/>
            <a:ext cx="6675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We're applying to YC S26.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600"/>
              </a:spcAft>
              <a:defRPr sz="2000" b="0">
                <a:solidFill>
                  <a:srgbClr val="CCCCCC"/>
                </a:solidFill>
                <a:latin typeface="Calibri"/>
              </a:defRPr>
            </a:pPr>
            <a:r>
              <a:t>We have 1,000+ students using the product, a self-improving AI system</a:t>
            </a:r>
          </a:p>
          <a:p>
            <a:pPr algn="ctr">
              <a:spcAft>
                <a:spcPts val="600"/>
              </a:spcAft>
              <a:defRPr sz="2000" b="0">
                <a:solidFill>
                  <a:srgbClr val="CCCCCC"/>
                </a:solidFill>
                <a:latin typeface="Calibri"/>
              </a:defRPr>
            </a:pPr>
            <a:r>
              <a:t>that no competitor has, and a research paper going to AIED 2026.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600"/>
              </a:spcAft>
              <a:defRPr sz="2200" b="1">
                <a:solidFill>
                  <a:srgbClr val="817AF7"/>
                </a:solidFill>
                <a:latin typeface="Calibri"/>
              </a:defRPr>
            </a:pPr>
            <a:r>
              <a:t>We're ready to go full-time and scale to 200 districts.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A8A8A"/>
                </a:solidFill>
                <a:latin typeface="Calibri"/>
              </a:defRPr>
            </a:pPr>
            <a:r>
              <a:t>youdahe@docere.ai  ·  kofi@docere.ai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